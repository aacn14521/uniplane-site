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 Type="http://schemas.openxmlformats.org/officeDocument/2006/relationships/printerSettings" Target="printerSettings/printerSettings1.bin"/><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第3章までの流れを受け、SELinuxはシステムの最終防御層であることを強調する。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この3要素でSELinuxは構成され、アクセス制御を実現する。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アクセスモデルの核心部分。Type Enforcementの基礎となる考え方。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例: httpd_t（Apacheプロセス）と httpd_sys_content_t（Webファイル）</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最も重要なのはtype。アクセス制御の実際はこのtypeに基づいて行われる。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restoreconでファイルのデフォルトラベルを再付与できる。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例: -rw-r--r--. root root system_u:object_r:httpd_sys_content_t:s0 index.html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例: allow httpd_t httpd_sys_content_t:file { read getattr open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ポリシーはモジュールとして管理され、必要に応じて追加・更新できる。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例: audit2allow -M mypolicy → semodule -i mypolicy.pp で適用。</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例: init_t が httpd_exec_t を実行 → httpd_t に遷移。</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restorecon -Rv /var/www/html で再設定可能。semanage fcontextで追加登録もできる。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getsebool -a / setsebool -P で確認・設定可能。</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例: audit2allow -M mypolicy &lt; audit.log → semodule -i mypolicy.pp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原因の多くはラベル不一致またはBooleans未設定。</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setenforce 0 で一時的変更。恒久設定は /etc/selinux/config。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カスタムポリシーは最小限にとどめ、変更内容は記録する。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getenforce / setenforce コマンドで確認・変更。</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「強制制御」と「最小権限」のバランスを意識する。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図で全体構造を示すことで、ラベルベース制御の仕組みを理解させる。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SELinuxの目的（再確認）</a:t>
            </a:r>
          </a:p>
        </p:txBody>
      </p:sp>
      <p:sp>
        <p:nvSpPr>
          <p:cNvPr id="3" name="Content Placeholder 2"/>
          <p:cNvSpPr>
            <a:spLocks noGrp="1"/>
          </p:cNvSpPr>
          <p:nvPr>
            <p:ph idx="1"/>
          </p:nvPr>
        </p:nvSpPr>
        <p:spPr/>
        <p:txBody>
          <a:bodyPr/>
          <a:lstStyle/>
          <a:p>
            <a:r>
              <a:t>侵入や誤設定、ゼロデイ攻撃などによる被害を局所化し、root権限奪取後も全制御を防ぐ多層防御の最終層として機能する。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SELinuxの構成要素</a:t>
            </a:r>
          </a:p>
        </p:txBody>
      </p:sp>
      <p:sp>
        <p:nvSpPr>
          <p:cNvPr id="3" name="Content Placeholder 2"/>
          <p:cNvSpPr>
            <a:spLocks noGrp="1"/>
          </p:cNvSpPr>
          <p:nvPr>
            <p:ph idx="1"/>
          </p:nvPr>
        </p:nvSpPr>
        <p:spPr/>
        <p:txBody>
          <a:bodyPr/>
          <a:lstStyle/>
          <a:p>
            <a:r>
              <a:t>• ポリシー（policy）: アクセス許可ルールの集合</a:t>
            </a:r>
          </a:p>
          <a:p>
            <a:r>
              <a:t>• コンテキスト（context）: 各オブジェクトやプロセスに付与されるラベル</a:t>
            </a:r>
          </a:p>
          <a:p>
            <a:r>
              <a:t>• モード（mode）: 動作状態（enforcing/permissive/disabled）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SELinuxのアクセスモデル</a:t>
            </a:r>
          </a:p>
        </p:txBody>
      </p:sp>
      <p:sp>
        <p:nvSpPr>
          <p:cNvPr id="3" name="Content Placeholder 2"/>
          <p:cNvSpPr>
            <a:spLocks noGrp="1"/>
          </p:cNvSpPr>
          <p:nvPr>
            <p:ph idx="1"/>
          </p:nvPr>
        </p:nvSpPr>
        <p:spPr/>
        <p:txBody>
          <a:bodyPr/>
          <a:lstStyle/>
          <a:p>
            <a:r>
              <a:t>「だれが（subject）」「なにに（object）」「なにを（action）」できるかをポリシーで定義する。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ドメイン（domain）とタイプ（type）</a:t>
            </a:r>
          </a:p>
        </p:txBody>
      </p:sp>
      <p:sp>
        <p:nvSpPr>
          <p:cNvPr id="3" name="Content Placeholder 2"/>
          <p:cNvSpPr>
            <a:spLocks noGrp="1"/>
          </p:cNvSpPr>
          <p:nvPr>
            <p:ph idx="1"/>
          </p:nvPr>
        </p:nvSpPr>
        <p:spPr/>
        <p:txBody>
          <a:bodyPr/>
          <a:lstStyle/>
          <a:p>
            <a:r>
              <a:t>• プロセスにはドメイン（domain）ラベルが付く</a:t>
            </a:r>
          </a:p>
          <a:p>
            <a:r>
              <a:t>• ファイルやリソースにはタイプ（type）ラベルが付く</a:t>
            </a:r>
          </a:p>
          <a:p>
            <a:r>
              <a:t>→ ルールは「domain が type に対して何をできるか」で決定される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コンテキスト（context）の構造</a:t>
            </a:r>
          </a:p>
        </p:txBody>
      </p:sp>
      <p:sp>
        <p:nvSpPr>
          <p:cNvPr id="3" name="Content Placeholder 2"/>
          <p:cNvSpPr>
            <a:spLocks noGrp="1"/>
          </p:cNvSpPr>
          <p:nvPr>
            <p:ph idx="1"/>
          </p:nvPr>
        </p:nvSpPr>
        <p:spPr/>
        <p:txBody>
          <a:bodyPr/>
          <a:lstStyle/>
          <a:p>
            <a:r>
              <a:t>例: system_u:object_r:httpd_sys_content_t:s0</a:t>
            </a:r>
          </a:p>
          <a:p>
            <a:r>
              <a:t>構成要素: user : role : type : level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ファイルとプロセスのラベル付け</a:t>
            </a:r>
          </a:p>
        </p:txBody>
      </p:sp>
      <p:sp>
        <p:nvSpPr>
          <p:cNvPr id="3" name="Content Placeholder 2"/>
          <p:cNvSpPr>
            <a:spLocks noGrp="1"/>
          </p:cNvSpPr>
          <p:nvPr>
            <p:ph idx="1"/>
          </p:nvPr>
        </p:nvSpPr>
        <p:spPr/>
        <p:txBody>
          <a:bodyPr/>
          <a:lstStyle/>
          <a:p>
            <a:r>
              <a:t>• ファイル: /etc/selinux/targeted/contexts/files/file_contexts で定義</a:t>
            </a:r>
          </a:p>
          <a:p>
            <a:r>
              <a:t>• プロセス: 実行時にポリシーで指定されたドメインが適用される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コンテキストの確認（ls -Z）</a:t>
            </a:r>
          </a:p>
        </p:txBody>
      </p:sp>
      <p:sp>
        <p:nvSpPr>
          <p:cNvPr id="3" name="Content Placeholder 2"/>
          <p:cNvSpPr>
            <a:spLocks noGrp="1"/>
          </p:cNvSpPr>
          <p:nvPr>
            <p:ph idx="1"/>
          </p:nvPr>
        </p:nvSpPr>
        <p:spPr/>
        <p:txBody>
          <a:bodyPr/>
          <a:lstStyle/>
          <a:p>
            <a:r>
              <a:t>ls -ZでファイルやディレクトリのSELinuxコンテキストを表示できる。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Type Enforcement（型強制）</a:t>
            </a:r>
          </a:p>
        </p:txBody>
      </p:sp>
      <p:sp>
        <p:nvSpPr>
          <p:cNvPr id="3" name="Content Placeholder 2"/>
          <p:cNvSpPr>
            <a:spLocks noGrp="1"/>
          </p:cNvSpPr>
          <p:nvPr>
            <p:ph idx="1"/>
          </p:nvPr>
        </p:nvSpPr>
        <p:spPr/>
        <p:txBody>
          <a:bodyPr/>
          <a:lstStyle/>
          <a:p>
            <a:r>
              <a:t>SELinuxの中核機能。ドメイン（プロセスのタイプ）が、他のタイプに対して実行可能な操作を定義する。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ポリシーの基本構文</a:t>
            </a:r>
          </a:p>
        </p:txBody>
      </p:sp>
      <p:sp>
        <p:nvSpPr>
          <p:cNvPr id="3" name="Content Placeholder 2"/>
          <p:cNvSpPr>
            <a:spLocks noGrp="1"/>
          </p:cNvSpPr>
          <p:nvPr>
            <p:ph idx="1"/>
          </p:nvPr>
        </p:nvSpPr>
        <p:spPr/>
        <p:txBody>
          <a:bodyPr/>
          <a:lstStyle/>
          <a:p>
            <a:r>
              <a:t>allow &lt;subject_type&gt; &lt;object_type&gt;:&lt;class&gt; &lt;permissions&gt;;</a:t>
            </a:r>
          </a:p>
          <a:p>
            <a:r>
              <a:t>例: allow httpd_t httpd_sys_content_t:file read;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ポリシーモジュール（Policy Module）</a:t>
            </a:r>
          </a:p>
        </p:txBody>
      </p:sp>
      <p:sp>
        <p:nvSpPr>
          <p:cNvPr id="3" name="Content Placeholder 2"/>
          <p:cNvSpPr>
            <a:spLocks noGrp="1"/>
          </p:cNvSpPr>
          <p:nvPr>
            <p:ph idx="1"/>
          </p:nvPr>
        </p:nvSpPr>
        <p:spPr/>
        <p:txBody>
          <a:bodyPr/>
          <a:lstStyle/>
          <a:p>
            <a:r>
              <a:t>SELinuxではポリシーをモジュール化して管理。</a:t>
            </a:r>
          </a:p>
          <a:p>
            <a:r>
              <a:t>独自アプリや追加サービスに対して、個別モジュールを作成可能。</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ドメイン遷移（domain transition）</a:t>
            </a:r>
          </a:p>
        </p:txBody>
      </p:sp>
      <p:sp>
        <p:nvSpPr>
          <p:cNvPr id="3" name="Content Placeholder 2"/>
          <p:cNvSpPr>
            <a:spLocks noGrp="1"/>
          </p:cNvSpPr>
          <p:nvPr>
            <p:ph idx="1"/>
          </p:nvPr>
        </p:nvSpPr>
        <p:spPr/>
        <p:txBody>
          <a:bodyPr/>
          <a:lstStyle/>
          <a:p>
            <a:r>
              <a:t>あるドメインのプロセスが別のタイプの実行ファイルを起動したときに、新しいドメインへ遷移する仕組み。</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ファイルコンテキストの自動付与</a:t>
            </a:r>
          </a:p>
        </p:txBody>
      </p:sp>
      <p:sp>
        <p:nvSpPr>
          <p:cNvPr id="3" name="Content Placeholder 2"/>
          <p:cNvSpPr>
            <a:spLocks noGrp="1"/>
          </p:cNvSpPr>
          <p:nvPr>
            <p:ph idx="1"/>
          </p:nvPr>
        </p:nvSpPr>
        <p:spPr/>
        <p:txBody>
          <a:bodyPr/>
          <a:lstStyle/>
          <a:p>
            <a:r>
              <a:t>/etc/selinux/targeted/contexts/files/file_contexts にパスとデフォルトタイプが定義されている。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Booleans設定による柔軟制御</a:t>
            </a:r>
          </a:p>
        </p:txBody>
      </p:sp>
      <p:sp>
        <p:nvSpPr>
          <p:cNvPr id="3" name="Content Placeholder 2"/>
          <p:cNvSpPr>
            <a:spLocks noGrp="1"/>
          </p:cNvSpPr>
          <p:nvPr>
            <p:ph idx="1"/>
          </p:nvPr>
        </p:nvSpPr>
        <p:spPr/>
        <p:txBody>
          <a:bodyPr/>
          <a:lstStyle/>
          <a:p>
            <a:r>
              <a:t>特定サービスの挙動をポリシー変更なしで切り替え可能。</a:t>
            </a:r>
          </a:p>
          <a:p>
            <a:r>
              <a:t>例: httpd_can_network_connect → Webサーバの外部通信可否。</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auditログの確認と解析</a:t>
            </a:r>
          </a:p>
        </p:txBody>
      </p:sp>
      <p:sp>
        <p:nvSpPr>
          <p:cNvPr id="3" name="Content Placeholder 2"/>
          <p:cNvSpPr>
            <a:spLocks noGrp="1"/>
          </p:cNvSpPr>
          <p:nvPr>
            <p:ph idx="1"/>
          </p:nvPr>
        </p:nvSpPr>
        <p:spPr/>
        <p:txBody>
          <a:bodyPr/>
          <a:lstStyle/>
          <a:p>
            <a:r>
              <a:t>• /var/log/audit/audit.log に拒否記録</a:t>
            </a:r>
          </a:p>
          <a:p>
            <a:r>
              <a:t>• audit2why で理由確認</a:t>
            </a:r>
          </a:p>
          <a:p>
            <a:r>
              <a:t>• audit2allow で許可ポリシー生成</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典型的なトラブルと対処</a:t>
            </a:r>
          </a:p>
        </p:txBody>
      </p:sp>
      <p:sp>
        <p:nvSpPr>
          <p:cNvPr id="3" name="Content Placeholder 2"/>
          <p:cNvSpPr>
            <a:spLocks noGrp="1"/>
          </p:cNvSpPr>
          <p:nvPr>
            <p:ph idx="1"/>
          </p:nvPr>
        </p:nvSpPr>
        <p:spPr/>
        <p:txBody>
          <a:bodyPr/>
          <a:lstStyle/>
          <a:p>
            <a:r>
              <a:t>• Webサーバが外部接続できない → httpd_can_network_connect を有効化</a:t>
            </a:r>
          </a:p>
          <a:p>
            <a:r>
              <a:t>• Postfix起動失敗 → ログ確認＋ポリシー修正</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permissiveモードでの検証</a:t>
            </a:r>
          </a:p>
        </p:txBody>
      </p:sp>
      <p:sp>
        <p:nvSpPr>
          <p:cNvPr id="3" name="Content Placeholder 2"/>
          <p:cNvSpPr>
            <a:spLocks noGrp="1"/>
          </p:cNvSpPr>
          <p:nvPr>
            <p:ph idx="1"/>
          </p:nvPr>
        </p:nvSpPr>
        <p:spPr/>
        <p:txBody>
          <a:bodyPr/>
          <a:lstStyle/>
          <a:p>
            <a:r>
              <a:t>enforcingでエラーが発生したら、permissiveに切り替えて動作を確認し、ログから原因を分析する。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カスタムポリシーの作成と適用</a:t>
            </a:r>
          </a:p>
        </p:txBody>
      </p:sp>
      <p:sp>
        <p:nvSpPr>
          <p:cNvPr id="3" name="Content Placeholder 2"/>
          <p:cNvSpPr>
            <a:spLocks noGrp="1"/>
          </p:cNvSpPr>
          <p:nvPr>
            <p:ph idx="1"/>
          </p:nvPr>
        </p:nvSpPr>
        <p:spPr/>
        <p:txBody>
          <a:bodyPr/>
          <a:lstStyle/>
          <a:p>
            <a:r>
              <a:t>audit2allow -M custom_policy でモジュール作成</a:t>
            </a:r>
          </a:p>
          <a:p>
            <a:r>
              <a:t>semodule -i custom_policy.pp で適用。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SELinuxモード管理まとめ</a:t>
            </a:r>
          </a:p>
        </p:txBody>
      </p:sp>
      <p:sp>
        <p:nvSpPr>
          <p:cNvPr id="3" name="Content Placeholder 2"/>
          <p:cNvSpPr>
            <a:spLocks noGrp="1"/>
          </p:cNvSpPr>
          <p:nvPr>
            <p:ph idx="1"/>
          </p:nvPr>
        </p:nvSpPr>
        <p:spPr/>
        <p:txBody>
          <a:bodyPr/>
          <a:lstStyle/>
          <a:p>
            <a:r>
              <a:t>• Enforcing : 制御を強制</a:t>
            </a:r>
          </a:p>
          <a:p>
            <a:r>
              <a:t>• Permissive : ログのみ出力</a:t>
            </a:r>
          </a:p>
          <a:p>
            <a:r>
              <a:t>• Disabled : 無効化</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SELinuxの限界と他方式との補完関係</a:t>
            </a:r>
          </a:p>
        </p:txBody>
      </p:sp>
      <p:sp>
        <p:nvSpPr>
          <p:cNvPr id="3" name="Content Placeholder 2"/>
          <p:cNvSpPr>
            <a:spLocks noGrp="1"/>
          </p:cNvSpPr>
          <p:nvPr>
            <p:ph idx="1"/>
          </p:nvPr>
        </p:nvSpPr>
        <p:spPr/>
        <p:txBody>
          <a:bodyPr/>
          <a:lstStyle/>
          <a:p>
            <a:r>
              <a:t>SELinuxは強力だが、すべてを防げるわけではない。</a:t>
            </a:r>
          </a:p>
          <a:p>
            <a:r>
              <a:t>→ DACやCapabilityと併用して多層防御を形成する。</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【図解】SELinuxアクセスモデルの全体像（後で追加）</a:t>
            </a:r>
          </a:p>
        </p:txBody>
      </p:sp>
      <p:sp>
        <p:nvSpPr>
          <p:cNvPr id="3" name="Content Placeholder 2"/>
          <p:cNvSpPr>
            <a:spLocks noGrp="1"/>
          </p:cNvSpPr>
          <p:nvPr>
            <p:ph idx="1"/>
          </p:nvPr>
        </p:nvSpPr>
        <p:spPr/>
        <p:txBody>
          <a:bodyPr/>
          <a:lstStyle/>
          <a:p>
            <a:r>
              <a:t>推奨構成：</a:t>
            </a:r>
          </a:p>
          <a:p>
            <a:r>
              <a:t>左：プロセス（domain） → 右：リソース（type）</a:t>
            </a:r>
          </a:p>
          <a:p>
            <a:r>
              <a:t>中央：allowルールによるアクセス制御線</a:t>
            </a:r>
          </a:p>
          <a:p>
            <a:r>
              <a:t>下部に「auditログ」「Booleans」など補足要素を配置。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